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3176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474720" cy="10972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3252W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Business</a:t>
            </a:r>
            <a:endParaRPr lang="en-US" sz="2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to</a:t>
            </a:r>
            <a:endParaRPr lang="en-US" sz="2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Employee</a:t>
            </a:r>
            <a:endParaRPr lang="en-US" sz="2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0" y="4526280"/>
            <a:ext cx="3474720" cy="6172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460857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Munim Awal  |  April 26,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0" y="10058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Final Report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3134" y="1433322"/>
            <a:ext cx="8138160" cy="22860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31920" y="16002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Stability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Predictive Analytics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931920" y="28803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IBM HR Analytics Employee Attrition Dataset</a:t>
            </a: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identify at-risk employees and build retention strategies.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931920" y="3977640"/>
            <a:ext cx="1463040" cy="749808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31920" y="400507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31920" y="43616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59552" y="3977640"/>
            <a:ext cx="1463040" cy="749808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59552" y="400507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59552" y="43616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87184" y="3977640"/>
            <a:ext cx="1463040" cy="749808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87184" y="400507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87184" y="43616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is expensive — and mostly preventable.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8138160" cy="22860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organizations react after someone leaves. This project uses data to act earlier.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2606040" cy="2523744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26060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084832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50–200%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02920" y="3090672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3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salary to replace</a:t>
            </a:r>
            <a:endParaRPr lang="en-US" sz="130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3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mid-level employee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1874520"/>
            <a:ext cx="2606040" cy="2523744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83280" y="1874520"/>
            <a:ext cx="2606040" cy="54864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2084832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383280" y="3090672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3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left during</a:t>
            </a:r>
            <a:endParaRPr lang="en-US" sz="130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3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observation period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874520"/>
            <a:ext cx="2606040" cy="2533773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63640" y="1874520"/>
            <a:ext cx="2606040" cy="5486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3640" y="2084832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263640" y="3090672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3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departing employees</a:t>
            </a:r>
            <a:endParaRPr lang="en-US" sz="130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3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worked overtime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" y="4983480"/>
            <a:ext cx="5486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Munim Awal  |  CIS 3252W  |  April 26,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0" y="4983480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Employee Attrition Dataset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8138160" cy="22860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049" y="162763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pavansubhasht/ibm-hr-analytics-attrition-dataset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87894"/>
            <a:ext cx="4114800" cy="16459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487699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 employees, 35 variables, 0 missing values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030705"/>
            <a:ext cx="4114800" cy="16459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14553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35127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— Left (1) or Stayed (0)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049" y="3909060"/>
            <a:ext cx="4114800" cy="16459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950739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19709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OverTime, JobSatisfaction, YearsAtCompany,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WorkLifeBalance, Age, Department, JobRole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-50145" y="4983480"/>
            <a:ext cx="5486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Munim Awal  |  CIS 3252W  |  April 26, 2026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400800" y="4983480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7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F4C52D0-2CCE-F038-1334-A0531452D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249" y="1757712"/>
            <a:ext cx="2775647" cy="27756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framework with logistic regression modeling.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0180"/>
            <a:ext cx="8138160" cy="22860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" y="1572768"/>
            <a:ext cx="658368" cy="65836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15727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55648" y="1891923"/>
            <a:ext cx="585216" cy="36576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" y="2395728"/>
            <a:ext cx="1572768" cy="2395728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048" y="2395728"/>
            <a:ext cx="1572768" cy="457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2487168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3200400"/>
            <a:ext cx="157276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problem: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employees are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at risk?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0" y="1572768"/>
            <a:ext cx="658368" cy="65836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60320" y="15727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01568" y="1891923"/>
            <a:ext cx="585216" cy="36576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103120" y="2395728"/>
            <a:ext cx="1572768" cy="2395728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103120" y="2395728"/>
            <a:ext cx="1572768" cy="457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03120" y="2487168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03120" y="3200400"/>
            <a:ext cx="157276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1,470 records,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distributions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group differences.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79392" y="1572768"/>
            <a:ext cx="658368" cy="65836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79392" y="15727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120640" y="1901952"/>
            <a:ext cx="585216" cy="36576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22192" y="2395728"/>
            <a:ext cx="1572768" cy="2395728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22192" y="2395728"/>
            <a:ext cx="1572768" cy="457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22192" y="2487168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22192" y="3200400"/>
            <a:ext cx="157276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Recode variables,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dummy codes,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data types.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98464" y="1572768"/>
            <a:ext cx="658368" cy="65836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98464" y="15727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94576" y="1894283"/>
            <a:ext cx="585216" cy="36576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541264" y="2395728"/>
            <a:ext cx="1572768" cy="2395728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541264" y="2395728"/>
            <a:ext cx="1572768" cy="457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541264" y="2487168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41264" y="3200400"/>
            <a:ext cx="157276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outcome model.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ratios show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per predictor.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717536" y="1572768"/>
            <a:ext cx="658368" cy="65836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17536" y="15727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260336" y="2395728"/>
            <a:ext cx="1572768" cy="2395728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260336" y="2395728"/>
            <a:ext cx="1572768" cy="457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260336" y="2487168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Action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60336" y="3200400"/>
            <a:ext cx="157276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coefficients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specific, ranked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strategies.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968289"/>
            <a:ext cx="9144000" cy="169164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0" y="4975958"/>
            <a:ext cx="5486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Munim Awal  |  CIS 3252W  |  April 26, 2026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400800" y="4983480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was the strongest predictor of attrition.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8138160" cy="22860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4.195x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02920" y="2633472"/>
            <a:ext cx="460002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leave</a:t>
            </a:r>
            <a:r>
              <a:rPr lang="en-US" sz="1500" dirty="0"/>
              <a:t> </a:t>
            </a:r>
            <a:r>
              <a:rPr lang="en-US" sz="15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working overtime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4564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 = 4.195  |  p &lt; .001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933837"/>
            <a:ext cx="8138160" cy="22860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93192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is the single largest attrition risk factor in the entire model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is directly within organizational control.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364613"/>
            <a:ext cx="3114858" cy="241427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-47194" y="4984660"/>
            <a:ext cx="5486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Munim Awal  |  CIS 3252W  |  April 26, 2026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400800" y="4983480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68114" y="461182"/>
            <a:ext cx="8366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86.1% accuracy — AUC 0.730 on held-out test data.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8138160" cy="22860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444752"/>
            <a:ext cx="1993392" cy="882396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1444752"/>
            <a:ext cx="1993392" cy="457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517904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86.1%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4048" y="1954530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78608" y="1444752"/>
            <a:ext cx="1993392" cy="882396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78608" y="1444752"/>
            <a:ext cx="1993392" cy="457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78608" y="1517904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78608" y="1996637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73168" y="1444752"/>
            <a:ext cx="1993392" cy="882396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73168" y="1444752"/>
            <a:ext cx="1993392" cy="457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73168" y="1517904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73168" y="2016252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67728" y="1444752"/>
            <a:ext cx="1993392" cy="882396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67728" y="1444752"/>
            <a:ext cx="199339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67728" y="1517904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67728" y="2007108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*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24825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Low recall is expected with 16.1% attrition base rate. Best used as a risk-ranking tool, not a binary classifier.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-53093" y="4983480"/>
            <a:ext cx="5486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Munim Awal  |  CIS 3252W  |  April 26, 2026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400800" y="4983480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7</a:t>
            </a:r>
            <a:endParaRPr lang="en-US" sz="8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D6BA14C-362F-664A-D857-9FF6EC7D1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2843784"/>
            <a:ext cx="4590288" cy="19995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11769"/>
            <a:ext cx="8138160" cy="713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actions — each tied to a significant model finding.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429414"/>
            <a:ext cx="8138160" cy="22860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16282"/>
            <a:ext cx="416052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1508760"/>
            <a:ext cx="91440" cy="16276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5216" y="161848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60020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Overtime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5216" y="196596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 OR = 4.195  p &lt; .001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5216" y="2203704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weekly hours. Redistribute workload before burnout becomes chronic. Flag employees over standard hours for 3+ consecutive weeks.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" y="3264408"/>
            <a:ext cx="416052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4048" y="3264408"/>
            <a:ext cx="91440" cy="162763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" y="337413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" y="3351276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Satisfaction Surveys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5216" y="3721608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JobSatisfaction  OR = 0.736  p &lt; .001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" y="3959352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3-question pulse surveys each quarter. Manager follow-up within 30 days for anyone scoring 2.0 or below on the 4-point scale.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91456" y="1508760"/>
            <a:ext cx="416052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91456" y="1508760"/>
            <a:ext cx="91440" cy="16276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92624" y="161848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58384" y="160020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Early-Tenure Mentorship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92624" y="196596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YearsAtCompany  OR = 0.942  p = .007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92624" y="2203704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90-day onboarding. Peer mentors for new hires in Sales and Lab roles. Check-ins at 30, 90, and 180 days.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91456" y="3259836"/>
            <a:ext cx="416052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91456" y="3264408"/>
            <a:ext cx="91440" cy="16276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92624" y="337413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58384" y="335584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Scheduling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992624" y="3721608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WorkLifeBalance  OR = 0.676  p = .001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92624" y="3959352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options, protected personal time, and clear after-hours norms. Each 1-point improvement in balance reduces attrition odds by 32%.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1480" y="4777740"/>
            <a:ext cx="8375904" cy="2011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478231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attrition predictors are organizational decisions — not fixed employee traits. These findings are actionable.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</Words>
  <Application>Microsoft Office PowerPoint</Application>
  <PresentationFormat>On-screen Show (16:9)</PresentationFormat>
  <Paragraphs>126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Retention – Project 4</dc:title>
  <dc:subject>PptxGenJS Presentation</dc:subject>
  <dc:creator>Munim Awal</dc:creator>
  <cp:lastModifiedBy>Munim .</cp:lastModifiedBy>
  <cp:revision>3</cp:revision>
  <dcterms:created xsi:type="dcterms:W3CDTF">2026-04-26T20:27:10Z</dcterms:created>
  <dcterms:modified xsi:type="dcterms:W3CDTF">2026-04-27T02:50:56Z</dcterms:modified>
</cp:coreProperties>
</file>